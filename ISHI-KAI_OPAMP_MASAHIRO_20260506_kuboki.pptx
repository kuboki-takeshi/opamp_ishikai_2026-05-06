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4F032E93.xml" ContentType="application/vnd.ms-powerpoint.comments+xml"/>
  <Override PartName="/ppt/comments/modernComment_12C_4432AED1.xml" ContentType="application/vnd.ms-powerpoint.comments+xml"/>
  <Override PartName="/ppt/comments/modernComment_12E_4C3FEE7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301" r:id="rId7"/>
    <p:sldId id="300" r:id="rId8"/>
    <p:sldId id="303" r:id="rId9"/>
    <p:sldId id="302" r:id="rId10"/>
    <p:sldId id="304" r:id="rId11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B626609D-FF57-32E9-2B50-EB600AC0045D}" name="Takeshi Kuboki" initials="TK" userId="74b87c3b77bc63d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成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5646" autoAdjust="0"/>
  </p:normalViewPr>
  <p:slideViewPr>
    <p:cSldViewPr snapToGrid="0">
      <p:cViewPr varScale="1">
        <p:scale>
          <a:sx n="94" d="100"/>
          <a:sy n="94" d="100"/>
        </p:scale>
        <p:origin x="114" y="55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omments/modernComment_12C_4432AE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0446AA-38BD-4DAD-B128-641330F889E1}" authorId="{B626609D-FF57-32E9-2B50-EB600AC0045D}" created="2026-05-06T07:53:34.716">
    <pc:sldMkLst xmlns:pc="http://schemas.microsoft.com/office/powerpoint/2013/main/command">
      <pc:docMk/>
      <pc:sldMk cId="1144172241" sldId="300"/>
    </pc:sldMkLst>
    <p188:txBody>
      <a:bodyPr/>
      <a:lstStyle/>
      <a:p>
        <a:r>
          <a:rPr lang="ja-JP" altLang="en-US"/>
          <a:t>2段目CS段はカスコード構成と思われますが、カスコードとなっているM14のゲートバイアスをどのように決めているのかが不明でした。もし単純にカスコードを構成するのであればゲートをVSSに接続したもよいと思いました。</a:t>
        </a:r>
      </a:p>
    </p188:txBody>
  </p188:cm>
</p188:cmLst>
</file>

<file path=ppt/comments/modernComment_12E_4C3FEE7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FCBA14-EA83-4983-98FC-2E65EA5BB5F1}" authorId="{B626609D-FF57-32E9-2B50-EB600AC0045D}" created="2026-05-06T08:07:33.304">
    <pc:sldMkLst xmlns:pc="http://schemas.microsoft.com/office/powerpoint/2013/main/command">
      <pc:docMk/>
      <pc:sldMk cId="1279258232" sldId="302"/>
    </pc:sldMkLst>
    <p188:txBody>
      <a:bodyPr/>
      <a:lstStyle/>
      <a:p>
        <a:r>
          <a:rPr lang="ja-JP" altLang="en-US"/>
          <a:t>・MOSのゲート方向がそろっているのはGood。
・差動入力が近いのはGood
・ガードリングもさることながら、基板/Well電位を安定させることが重要です。そのためB端子は1か所にせずたくさん置いた方がよいです。
・差動入力は等長配線を目指したほうがよいです。
・抵抗は拡散で設計すると容量がつきやすいです。</a:t>
        </a:r>
      </a:p>
    </p188:txBody>
  </p188:cm>
</p188:cmLst>
</file>

<file path=ppt/comments/modernComment_101_4F032E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272F27-8F29-4927-AC4E-4EDD1E0FE022}" authorId="{B626609D-FF57-32E9-2B50-EB600AC0045D}" created="2026-05-06T07:54:07.131">
    <pc:sldMkLst xmlns:pc="http://schemas.microsoft.com/office/powerpoint/2013/main/command">
      <pc:docMk/>
      <pc:sldMk cId="1325608595" sldId="257"/>
    </pc:sldMkLst>
    <p188:txBody>
      <a:bodyPr/>
      <a:lstStyle/>
      <a:p>
        <a:r>
          <a:rPr lang="ja-JP" altLang="en-US"/>
          <a:t>gmによりますが、RFはちょっと厳しいかもしれません。。2段構成ではなく多段構成で狙ってはどうでしょうか。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2912E217-2403-4DA5-84C1-2E48A381214C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2026/5/6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EAFF3A6F-DEFA-45E0-9496-BEE7C2C6F3D0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B3D4BF9-D420-4FAA-8A3B-F85C45353287}" type="datetime1">
              <a:rPr lang="ja-JP" altLang="en-US" smtClean="0"/>
              <a:t>2026/5/6</a:t>
            </a:fld>
            <a:endParaRPr lang="en-US" dirty="0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F97DC217-DF71-1A49-B3EA-559F1F43B0FF}" type="slidenum">
              <a:rPr lang="en-US" altLang="ja-JP" smtClean="0"/>
              <a:pPr/>
              <a:t>‹#›</a:t>
            </a:fld>
            <a:endParaRPr lang="en-US" altLang="en-US" dirty="0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F97DC217-DF71-1A49-B3EA-559F1F43B0FF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F97DC217-DF71-1A49-B3EA-559F1F43B0FF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長方形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7" name="グループ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フリーフォーム(F)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6" name="グループ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フリーフォーム(F)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6" name="フリーフォーム(F)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8" name="フリーフォーム(F)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ja-JP" sz="60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フリーフォーム(F)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フリーフォーム(F)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" name="フリーフォーム(F)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9" name="グループ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フリーフォーム(F)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8" name="フリーフォーム(F)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長方形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フリーフォーム(F)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3" name="タイトル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ja-JP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ja-JP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ja-JP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セクションの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フリーフォーム(F)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6" name="グループ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フリーフォーム(F)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6" name="フリーフォーム(F)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17" name="フリーフォーム(F)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フリーフォーム(F)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ja-JP" sz="6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ja-JP" sz="3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rtl="0"/>
            <a:r>
              <a:rPr lang="ja-JP" dirty="0"/>
              <a:t>クリックしてサブタイトルを追加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列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フリーフォーム(F)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フリーフォーム(F)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" name="フリーフォーム(F)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9" name="グループ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フリーフォーム(F)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8" name="フリーフォーム(F)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コンテンツ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フリーフォーム(F)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フリーフォーム(F)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ja-JP" sz="4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、コンテンツ、画像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長方形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3" name="タイトル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8" name="図プレースホルダー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アイコンをクリックして画像を追加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ja-JP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ja-JP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ja-JP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フリーフォーム(F)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 rtlCol="0">
            <a:noAutofit/>
          </a:bodyPr>
          <a:lstStyle>
            <a:lvl1pPr marL="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 rtlCol="0">
            <a:noAutofit/>
          </a:bodyPr>
          <a:lstStyle>
            <a:lvl1pPr marL="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クリックしてコンテンツを追加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グラフ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フリーフォーム(F)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ja-JP" sz="4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クリックしてテキストを追加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終了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長方形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6" name="グループ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フリーフォーム(F)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6" name="フリーフォーム(F)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ja-JP"/>
                </a:defPPr>
              </a:lstStyle>
              <a:p>
                <a:pPr algn="ctr" rtl="0"/>
                <a:endParaRPr 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フリーフォーム(F)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algn="ctr"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ja-JP" sz="60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ja-JP"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lvl="0" rtl="0"/>
            <a:r>
              <a:rPr lang="ja-JP" dirty="0"/>
              <a:t>クリックしてテキストを追加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B61BD-2E4B-5486-14CE-1AB6528C7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54AC4E-65D4-96E2-22F0-E8738774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BD1-1831-4F11-B263-6916C5686805}" type="datetime1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349A1E-9A01-81F1-720D-5584F9F0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66BF72-CDCF-42B5-EFA2-580F3CD1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27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20XX/9/8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5" r:id="rId7"/>
    <p:sldLayoutId id="2147483677" r:id="rId8"/>
    <p:sldLayoutId id="2147483661" r:id="rId9"/>
    <p:sldLayoutId id="2147483666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4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lang="ja-JP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4F032E9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2C_4432AED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2E_4C3FEE78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6277103" cy="3830130"/>
          </a:xfrm>
        </p:spPr>
        <p:txBody>
          <a:bodyPr rtlCol="0"/>
          <a:lstStyle>
            <a:defPPr>
              <a:defRPr lang="ja-JP"/>
            </a:defPPr>
          </a:lstStyle>
          <a:p>
            <a:pPr rtl="0">
              <a:lnSpc>
                <a:spcPct val="90000"/>
              </a:lnSpc>
            </a:pPr>
            <a:r>
              <a:rPr lang="en-US" altLang="ja-JP" sz="4800" dirty="0"/>
              <a:t>ISHI</a:t>
            </a:r>
            <a:r>
              <a:rPr lang="ja-JP" altLang="en-US" sz="4800" dirty="0"/>
              <a:t>会オペアンプ設計</a:t>
            </a:r>
            <a:endParaRPr lang="ja-JP" sz="48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C0D7E9-FF22-C9EE-4957-717F9432C901}"/>
              </a:ext>
            </a:extLst>
          </p:cNvPr>
          <p:cNvSpPr txBox="1"/>
          <p:nvPr/>
        </p:nvSpPr>
        <p:spPr>
          <a:xfrm>
            <a:off x="8045405" y="5670596"/>
            <a:ext cx="1754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Masahiro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コンセプト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en-US" altLang="ja-JP" dirty="0"/>
              <a:t>RF</a:t>
            </a:r>
            <a:r>
              <a:rPr lang="ja-JP" altLang="en-US" dirty="0"/>
              <a:t>（数</a:t>
            </a:r>
            <a:r>
              <a:rPr lang="en-US" altLang="ja-JP" dirty="0"/>
              <a:t>MHz</a:t>
            </a:r>
            <a:r>
              <a:rPr lang="ja-JP" altLang="en-US" dirty="0"/>
              <a:t>）でも使えるオペアンプ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C034DE4A-9C6B-D3A4-336C-BF01FB20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設計の基本方針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0103107-C854-7232-9F02-E9CFFF2E993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ja-JP" altLang="en-US" dirty="0"/>
              <a:t>初段の差動増幅に</a:t>
            </a:r>
            <a:r>
              <a:rPr lang="en-US" altLang="ja-JP" dirty="0" err="1"/>
              <a:t>nMOSFET</a:t>
            </a:r>
            <a:r>
              <a:rPr lang="ja-JP" altLang="en-US" dirty="0"/>
              <a:t>を使用</a:t>
            </a:r>
            <a:endParaRPr lang="en-US" altLang="ja-JP" dirty="0"/>
          </a:p>
          <a:p>
            <a:pPr lvl="1"/>
            <a:r>
              <a:rPr lang="ja-JP" altLang="en-US" dirty="0"/>
              <a:t>みんな</a:t>
            </a:r>
            <a:r>
              <a:rPr lang="en-US" altLang="ja-JP" dirty="0" err="1"/>
              <a:t>pMOSFET</a:t>
            </a:r>
            <a:r>
              <a:rPr lang="ja-JP" altLang="en-US" dirty="0"/>
              <a:t>だから</a:t>
            </a:r>
            <a:r>
              <a:rPr lang="en-US" altLang="ja-JP" dirty="0" err="1"/>
              <a:t>nMOSFET</a:t>
            </a:r>
            <a:r>
              <a:rPr lang="ja-JP" altLang="en-US" dirty="0"/>
              <a:t>にしてみたかった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２段目はカスコードにする</a:t>
            </a:r>
            <a:endParaRPr lang="en-US" altLang="ja-JP" dirty="0"/>
          </a:p>
          <a:p>
            <a:pPr lvl="1"/>
            <a:r>
              <a:rPr lang="ja-JP" altLang="en-US" dirty="0"/>
              <a:t>ミラー効果減らして高域まで使えるようにできそう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2909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AFE208E-814F-425E-B2F2-3FA79C992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全体回路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C9DB0A29-4F20-C889-A9E1-66736CE7B00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049F244B-A4BB-07E0-7D06-A3233F97D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8BE8898-C576-9EA3-050C-08DD3D3A4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0BEAF81-F728-F372-A922-76AD201CFA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2" t="33310" r="1449" b="3223"/>
          <a:stretch>
            <a:fillRect/>
          </a:stretch>
        </p:blipFill>
        <p:spPr>
          <a:xfrm>
            <a:off x="134121" y="2069299"/>
            <a:ext cx="11923758" cy="421957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A273BEA-28A0-36F1-512E-95206C224A4D}"/>
              </a:ext>
            </a:extLst>
          </p:cNvPr>
          <p:cNvSpPr/>
          <p:nvPr/>
        </p:nvSpPr>
        <p:spPr>
          <a:xfrm>
            <a:off x="487680" y="2716885"/>
            <a:ext cx="4160520" cy="3512777"/>
          </a:xfrm>
          <a:prstGeom prst="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8031B0-AD32-3516-913E-7AF35BAABF04}"/>
              </a:ext>
            </a:extLst>
          </p:cNvPr>
          <p:cNvSpPr txBox="1"/>
          <p:nvPr/>
        </p:nvSpPr>
        <p:spPr>
          <a:xfrm>
            <a:off x="1364775" y="2255219"/>
            <a:ext cx="2060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バイアス生成部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A069FB2-AD7E-DA34-BC99-A308759E5CB8}"/>
              </a:ext>
            </a:extLst>
          </p:cNvPr>
          <p:cNvSpPr/>
          <p:nvPr/>
        </p:nvSpPr>
        <p:spPr>
          <a:xfrm>
            <a:off x="5540991" y="2716884"/>
            <a:ext cx="3384645" cy="3516189"/>
          </a:xfrm>
          <a:prstGeom prst="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0C0324-22D2-2F6C-9271-181E8CF02111}"/>
              </a:ext>
            </a:extLst>
          </p:cNvPr>
          <p:cNvSpPr txBox="1"/>
          <p:nvPr/>
        </p:nvSpPr>
        <p:spPr>
          <a:xfrm>
            <a:off x="6317775" y="225521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差動増幅回路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B5F8954-FFEC-9FB6-B94F-B889A02CF6E2}"/>
              </a:ext>
            </a:extLst>
          </p:cNvPr>
          <p:cNvSpPr/>
          <p:nvPr/>
        </p:nvSpPr>
        <p:spPr>
          <a:xfrm>
            <a:off x="9262110" y="4112570"/>
            <a:ext cx="1381506" cy="130246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F29746F-19B1-040D-6BCA-74C386061151}"/>
              </a:ext>
            </a:extLst>
          </p:cNvPr>
          <p:cNvSpPr txBox="1"/>
          <p:nvPr/>
        </p:nvSpPr>
        <p:spPr>
          <a:xfrm>
            <a:off x="9227844" y="488680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位相補償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B7E999D-94A3-3A04-AC23-FE1AFE527385}"/>
              </a:ext>
            </a:extLst>
          </p:cNvPr>
          <p:cNvSpPr/>
          <p:nvPr/>
        </p:nvSpPr>
        <p:spPr>
          <a:xfrm>
            <a:off x="10860132" y="3050280"/>
            <a:ext cx="844188" cy="2542033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D9BF9F6-489B-2523-A6EC-6D9CDEB0D713}"/>
              </a:ext>
            </a:extLst>
          </p:cNvPr>
          <p:cNvSpPr txBox="1"/>
          <p:nvPr/>
        </p:nvSpPr>
        <p:spPr>
          <a:xfrm>
            <a:off x="10670063" y="5607562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２段目</a:t>
            </a:r>
          </a:p>
        </p:txBody>
      </p:sp>
    </p:spTree>
    <p:extLst>
      <p:ext uri="{BB962C8B-B14F-4D97-AF65-F5344CB8AC3E}">
        <p14:creationId xmlns:p14="http://schemas.microsoft.com/office/powerpoint/2010/main" val="11441722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BDF28909-C02E-D822-F07E-F7ECE8BA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ja-JP" altLang="en-US" dirty="0"/>
              <a:t>レイアウトの方針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15167CF-0266-3FAD-2A46-34EE10614C8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6088" y="2652713"/>
            <a:ext cx="5394959" cy="3436936"/>
          </a:xfrm>
        </p:spPr>
        <p:txBody>
          <a:bodyPr/>
          <a:lstStyle/>
          <a:p>
            <a:r>
              <a:rPr lang="ja-JP" altLang="en-US" dirty="0"/>
              <a:t>とりあえず動くレイアウトにする</a:t>
            </a:r>
            <a:endParaRPr lang="en-US" altLang="ja-JP" dirty="0"/>
          </a:p>
          <a:p>
            <a:pPr lvl="1"/>
            <a:r>
              <a:rPr lang="en-US" altLang="ja-JP" dirty="0"/>
              <a:t>LVS</a:t>
            </a:r>
            <a:r>
              <a:rPr lang="ja-JP" altLang="en-US" dirty="0"/>
              <a:t>は絶対にパスするようにする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回路図となるべく同じ配置にする</a:t>
            </a:r>
            <a:endParaRPr lang="en-US" altLang="ja-JP" dirty="0"/>
          </a:p>
          <a:p>
            <a:pPr lvl="1"/>
            <a:r>
              <a:rPr lang="ja-JP" altLang="en-US" dirty="0"/>
              <a:t>あとで訳わからなくなるの怖かった</a:t>
            </a:r>
            <a:endParaRPr lang="en-US" altLang="ja-JP" dirty="0"/>
          </a:p>
          <a:p>
            <a:endParaRPr lang="ja-JP" altLang="en-US" dirty="0"/>
          </a:p>
        </p:txBody>
      </p:sp>
      <p:pic>
        <p:nvPicPr>
          <p:cNvPr id="8" name="図プレースホルダー 7" descr="プロセッサ 単色塗りつぶし">
            <a:extLst>
              <a:ext uri="{FF2B5EF4-FFF2-40B4-BE49-F238E27FC236}">
                <a16:creationId xmlns:a16="http://schemas.microsoft.com/office/drawing/2014/main" id="{351D1FB4-792D-BA10-8814-C7D7D3C958B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318375" y="1447800"/>
            <a:ext cx="4213225" cy="4213225"/>
          </a:xfrm>
        </p:spPr>
      </p:pic>
    </p:spTree>
    <p:extLst>
      <p:ext uri="{BB962C8B-B14F-4D97-AF65-F5344CB8AC3E}">
        <p14:creationId xmlns:p14="http://schemas.microsoft.com/office/powerpoint/2010/main" val="7827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7293A9-B483-33F2-F3C8-7124B387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レイアウト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1A02A88-1010-058E-D478-6791C0F22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02" y="1924110"/>
            <a:ext cx="10547396" cy="479736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0EBBE2-9385-301E-4FFF-1B1BACDE80DF}"/>
              </a:ext>
            </a:extLst>
          </p:cNvPr>
          <p:cNvSpPr txBox="1"/>
          <p:nvPr/>
        </p:nvSpPr>
        <p:spPr>
          <a:xfrm>
            <a:off x="1021224" y="3513937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vss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D662BA1-4E7B-4B87-6065-90782761A4C7}"/>
              </a:ext>
            </a:extLst>
          </p:cNvPr>
          <p:cNvSpPr txBox="1"/>
          <p:nvPr/>
        </p:nvSpPr>
        <p:spPr>
          <a:xfrm>
            <a:off x="979268" y="635214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vdd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17998FB-420A-278D-B7EB-117A51A25EAE}"/>
              </a:ext>
            </a:extLst>
          </p:cNvPr>
          <p:cNvSpPr txBox="1"/>
          <p:nvPr/>
        </p:nvSpPr>
        <p:spPr>
          <a:xfrm>
            <a:off x="918354" y="4350697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vinp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086A495-2015-9644-DBF2-F2215064D913}"/>
              </a:ext>
            </a:extLst>
          </p:cNvPr>
          <p:cNvSpPr txBox="1"/>
          <p:nvPr/>
        </p:nvSpPr>
        <p:spPr>
          <a:xfrm>
            <a:off x="918354" y="4602289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vinn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26ACAA1-9B5A-7E13-4317-72B20A170D68}"/>
              </a:ext>
            </a:extLst>
          </p:cNvPr>
          <p:cNvSpPr txBox="1"/>
          <p:nvPr/>
        </p:nvSpPr>
        <p:spPr>
          <a:xfrm>
            <a:off x="991444" y="560748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ib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DB047C2-387A-1F2B-5862-95F5B2194B39}"/>
              </a:ext>
            </a:extLst>
          </p:cNvPr>
          <p:cNvSpPr txBox="1"/>
          <p:nvPr/>
        </p:nvSpPr>
        <p:spPr>
          <a:xfrm>
            <a:off x="10773060" y="5510104"/>
            <a:ext cx="681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vout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2582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2792BA-50B4-03A4-57AE-D3F64C2B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反省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5D244E4-A975-EF5A-4DB1-AB722F02161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ja-JP" altLang="en-US" dirty="0"/>
              <a:t>回路図通りに並べて配線しただけで工夫が無い</a:t>
            </a:r>
            <a:endParaRPr lang="en-US" altLang="ja-JP" dirty="0"/>
          </a:p>
          <a:p>
            <a:pPr lvl="1"/>
            <a:r>
              <a:rPr lang="ja-JP" altLang="en-US" dirty="0"/>
              <a:t>ガードくらいは入れれば良かったと思う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配線が細い</a:t>
            </a:r>
            <a:endParaRPr lang="en-US" altLang="ja-JP" dirty="0"/>
          </a:p>
          <a:p>
            <a:pPr lvl="1"/>
            <a:r>
              <a:rPr lang="ja-JP" altLang="en-US" dirty="0"/>
              <a:t>もっと太く短く配線できたはず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フィンガーの端から配線を取り出しているので、</a:t>
            </a:r>
            <a:br>
              <a:rPr lang="en-US" altLang="ja-JP" dirty="0"/>
            </a:br>
            <a:r>
              <a:rPr lang="ja-JP" altLang="en-US" dirty="0"/>
              <a:t>両端で電位の違いがありそう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51521503"/>
      </p:ext>
    </p:extLst>
  </p:cSld>
  <p:clrMapOvr>
    <a:masterClrMapping/>
  </p:clrMapOvr>
</p:sld>
</file>

<file path=ppt/theme/theme1.xml><?xml version="1.0" encoding="utf-8"?>
<a:theme xmlns:a="http://schemas.openxmlformats.org/drawingml/2006/main" name="ユーザー設定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18_TF45331398_Win32" id="{425936A9-D287-42E4-A79F-75E6950236D6}" vid="{12592F7F-909F-4315-8BE5-A7B4FB28679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{F74AF6B3-859A-4B62-B872-2BB3CBDF553D}TF0e83fa2d-9a66-4e5e-9e82-acc620be7a49325e06bd_win32-c8f62445945c</Template>
  <TotalTime>198</TotalTime>
  <Words>144</Words>
  <Application>Microsoft Office PowerPoint</Application>
  <PresentationFormat>ワイド画面</PresentationFormat>
  <Paragraphs>39</Paragraphs>
  <Slides>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Meiryo UI</vt:lpstr>
      <vt:lpstr>Arial</vt:lpstr>
      <vt:lpstr>ユーザー設定</vt:lpstr>
      <vt:lpstr>ISHI会オペアンプ設計</vt:lpstr>
      <vt:lpstr>コンセプト</vt:lpstr>
      <vt:lpstr>設計の基本方針</vt:lpstr>
      <vt:lpstr>全体回路</vt:lpstr>
      <vt:lpstr>レイアウトの方針</vt:lpstr>
      <vt:lpstr>レイアウト</vt:lpstr>
      <vt:lpstr>反省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政大 福岡</dc:creator>
  <cp:lastModifiedBy>Takeshi Kuboki</cp:lastModifiedBy>
  <cp:revision>4</cp:revision>
  <dcterms:created xsi:type="dcterms:W3CDTF">2026-05-02T13:56:19Z</dcterms:created>
  <dcterms:modified xsi:type="dcterms:W3CDTF">2026-05-06T09:39:38Z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