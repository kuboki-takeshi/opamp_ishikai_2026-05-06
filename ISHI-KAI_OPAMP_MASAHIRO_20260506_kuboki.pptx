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1_4F032E93.xml" ContentType="application/vnd.ms-powerpoint.comments+xml"/>
  <Override PartName="/ppt/comments/modernComment_12C_4432AED1.xml" ContentType="application/vnd.ms-powerpoint.comments+xml"/>
  <Override PartName="/ppt/comments/modernComment_12E_4C3FEE7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57" r:id="rId6"/>
    <p:sldId id="301" r:id="rId7"/>
    <p:sldId id="300" r:id="rId8"/>
    <p:sldId id="303" r:id="rId9"/>
    <p:sldId id="302" r:id="rId10"/>
    <p:sldId id="304" r:id="rId11"/>
  </p:sldIdLst>
  <p:sldSz cx="12192000" cy="6858000"/>
  <p:notesSz cx="6858000" cy="9144000"/>
  <p:defaultTextStyle>
    <a:defPPr rtl="0">
      <a:defRPr lang="ja-JP"/>
    </a:defPPr>
    <a:lvl1pPr marL="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ja-JP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B626609D-FF57-32E9-2B50-EB600AC0045D}" name="Takeshi Kuboki" initials="TK" userId="74b87c3b77bc63d5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作成者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5646" autoAdjust="0"/>
  </p:normalViewPr>
  <p:slideViewPr>
    <p:cSldViewPr snapToGrid="0">
      <p:cViewPr varScale="1">
        <p:scale>
          <a:sx n="133" d="100"/>
          <a:sy n="133" d="100"/>
        </p:scale>
        <p:origin x="108" y="47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286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comments/modernComment_12C_4432AE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E0446AA-38BD-4DAD-B128-641330F889E1}" authorId="{B626609D-FF57-32E9-2B50-EB600AC0045D}" created="2026-05-06T07:53:34.716">
    <pc:sldMkLst xmlns:pc="http://schemas.microsoft.com/office/powerpoint/2013/main/command">
      <pc:docMk/>
      <pc:sldMk cId="1144172241" sldId="300"/>
    </pc:sldMkLst>
    <p188:txBody>
      <a:bodyPr/>
      <a:lstStyle/>
      <a:p>
        <a:r>
          <a:rPr lang="ja-JP" altLang="en-US"/>
          <a:t>2段目CS段はカスコード構成と思われますが、カスコードとなっているM14のゲートバイアスをどのように決めているのかが不明でした。もし単純にカスコードを構成するのであればゲートをVSSに接続したもよいと思いました。</a:t>
        </a:r>
      </a:p>
    </p188:txBody>
  </p188:cm>
</p188:cmLst>
</file>

<file path=ppt/comments/modernComment_12E_4C3FEE7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0FCBA14-EA83-4983-98FC-2E65EA5BB5F1}" authorId="{B626609D-FF57-32E9-2B50-EB600AC0045D}" created="2026-05-06T08:07:33.304">
    <pc:sldMkLst xmlns:pc="http://schemas.microsoft.com/office/powerpoint/2013/main/command">
      <pc:docMk/>
      <pc:sldMk cId="1279258232" sldId="302"/>
    </pc:sldMkLst>
    <p188:txBody>
      <a:bodyPr/>
      <a:lstStyle/>
      <a:p>
        <a:r>
          <a:rPr lang="ja-JP" altLang="en-US"/>
          <a:t>・MOSのゲート方向がそろっているのはGood。
・差動入力が近いのはGood
・ガードリングもさることながら、基板/Well電位を安定させることが重要です。そのためB端子は1か所にせずたくさん置いた方がよいです。
・差動入力は等長配線を目指したほうがよいです。</a:t>
        </a:r>
      </a:p>
    </p188:txBody>
  </p188:cm>
</p188:cmLst>
</file>

<file path=ppt/comments/modernComment_101_4F032E9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2272F27-8F29-4927-AC4E-4EDD1E0FE022}" authorId="{B626609D-FF57-32E9-2B50-EB600AC0045D}" created="2026-05-06T07:54:07.131">
    <pc:sldMkLst xmlns:pc="http://schemas.microsoft.com/office/powerpoint/2013/main/command">
      <pc:docMk/>
      <pc:sldMk cId="1325608595" sldId="257"/>
    </pc:sldMkLst>
    <p188:txBody>
      <a:bodyPr/>
      <a:lstStyle/>
      <a:p>
        <a:r>
          <a:rPr lang="ja-JP" altLang="en-US"/>
          <a:t>gmによりますが、RFはちょっと厳しいかもしれません。。2段構成ではなく多段構成で狙ってはどうでしょうか。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ja-JP" sz="1200"/>
            </a:lvl1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ja-JP" sz="1200"/>
            </a:lvl1pPr>
          </a:lstStyle>
          <a:p>
            <a:pPr rtl="0"/>
            <a:fld id="{2912E217-2403-4DA5-84C1-2E48A381214C}" type="datetime1">
              <a:rPr lang="ja-JP" alt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t>2026/5/6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ja-JP" sz="1200"/>
            </a:lvl1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ja-JP" sz="1200"/>
            </a:lvl1pPr>
          </a:lstStyle>
          <a:p>
            <a:pPr rtl="0"/>
            <a:fld id="{EAFF3A6F-DEFA-45E0-9496-BEE7C2C6F3D0}" type="slidenum">
              <a:rPr 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‹#›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>
              <a:ea typeface="Meiryo UI" panose="020B0604030504040204" pitchFamily="50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AB3D4BF9-D420-4FAA-8A3B-F85C45353287}" type="datetime1">
              <a:rPr lang="ja-JP" altLang="en-US" smtClean="0"/>
              <a:t>2026/5/6</a:t>
            </a:fld>
            <a:endParaRPr lang="en-US" dirty="0">
              <a:ea typeface="Meiryo UI" panose="020B0604030504040204" pitchFamily="50" charset="-128"/>
            </a:endParaRPr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ja-JP"/>
            </a:defPPr>
          </a:lstStyle>
          <a:p>
            <a:pPr rtl="0"/>
            <a:endParaRPr lang="ja-JP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ja-JP"/>
            </a:defPPr>
          </a:lstStyle>
          <a:p>
            <a:pPr lvl="0" rtl="0"/>
            <a:r>
              <a:rPr lang="ja-JP"/>
              <a:t>クリックしてマスター テキストのスタイルを編集</a:t>
            </a:r>
          </a:p>
          <a:p>
            <a:pPr lvl="1" rtl="0"/>
            <a:r>
              <a:rPr lang="ja-JP"/>
              <a:t>第 2 レベル</a:t>
            </a:r>
          </a:p>
          <a:p>
            <a:pPr lvl="2" rtl="0"/>
            <a:r>
              <a:rPr lang="ja-JP"/>
              <a:t>第 3 レベル</a:t>
            </a:r>
          </a:p>
          <a:p>
            <a:pPr lvl="3" rtl="0"/>
            <a:r>
              <a:rPr lang="ja-JP"/>
              <a:t>第 4 レベル</a:t>
            </a:r>
          </a:p>
          <a:p>
            <a:pPr lvl="4" rtl="0"/>
            <a:r>
              <a:rPr lang="ja-JP"/>
              <a:t>第 5 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>
              <a:ea typeface="Meiryo UI" panose="020B0604030504040204" pitchFamily="50" charset="-128"/>
            </a:endParaRPr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ja-JP"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F97DC217-DF71-1A49-B3EA-559F1F43B0FF}" type="slidenum">
              <a:rPr lang="en-US" altLang="ja-JP" smtClean="0"/>
              <a:pPr/>
              <a:t>‹#›</a:t>
            </a:fld>
            <a:endParaRPr lang="en-US" altLang="en-US" dirty="0"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1pPr>
    <a:lvl2pPr marL="4572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2pPr>
    <a:lvl3pPr marL="9144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3pPr>
    <a:lvl4pPr marL="13716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4pPr>
    <a:lvl5pPr marL="1828800" algn="l" defTabSz="914400" rtl="0" eaLnBrk="1" latinLnBrk="0" hangingPunct="1">
      <a:defRPr lang="ja-JP"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5pPr>
    <a:lvl6pPr marL="22860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6pPr>
    <a:lvl7pPr marL="27432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7pPr>
    <a:lvl8pPr marL="32004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8pPr>
    <a:lvl9pPr marL="3657600" algn="l" defTabSz="914400" rtl="0" eaLnBrk="1" latinLnBrk="0" hangingPunct="1">
      <a:defRPr lang="ja-JP" sz="1200" kern="1200">
        <a:solidFill>
          <a:schemeClr val="tx1"/>
        </a:solidFill>
        <a:latin typeface="+mn-ea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F97DC217-DF71-1A49-B3EA-559F1F43B0FF}" type="slidenum">
              <a:rPr 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ja-JP"/>
            </a:defPPr>
          </a:lstStyle>
          <a:p>
            <a:pPr rtl="0"/>
            <a:fld id="{F97DC217-DF71-1A49-B3EA-559F1F43B0FF}" type="slidenum">
              <a:rPr 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fld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長方形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</a:lstStyle>
          <a:p>
            <a:pPr algn="ctr" rtl="0"/>
            <a:endParaRPr 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7" name="グループ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フリーフォーム(F)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フリーフォーム(F)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" name="グループ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フリーフォーム(F)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フリーフォーム(F)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2" name="フリーフォーム(F)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28" name="フリーフォーム(F)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rtlCol="0" anchor="b">
            <a:noAutofit/>
          </a:bodyPr>
          <a:lstStyle>
            <a:lvl1pPr algn="l">
              <a:defRPr lang="ja-JP" sz="60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フリーフォーム(F)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フリーフォーム(F)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フリーフォーム(F)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フリーフォーム(F)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フリーフォーム(F)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rtlCol="0" anchor="b">
            <a:noAutofit/>
          </a:bodyPr>
          <a:lstStyle>
            <a:lvl1pPr>
              <a:defRPr lang="ja-JP" sz="42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 rtlCol="0">
            <a:normAutofit/>
          </a:bodyPr>
          <a:lstStyle>
            <a:lvl1pPr marL="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144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3716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8288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10" name="日付プレースホルダー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11" name="フッター プレースホルダー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ja-JP" sz="12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長方形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リーフォーム(F)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5" name="フリーフォーム(F)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" name="タイトル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rtlCol="0" anchor="b">
            <a:noAutofit/>
          </a:bodyPr>
          <a:lstStyle>
            <a:lvl1pPr>
              <a:defRPr lang="ja-JP" sz="42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 rtlCol="0"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ja-JP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ja-JP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ja-JP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セクションの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フリーフォーム(F)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" name="グループ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フリーフォーム(F)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フリーフォーム(F)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17" name="フリーフォーム(F)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8" name="フリーフォーム(F)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rtlCol="0" anchor="b">
            <a:noAutofit/>
          </a:bodyPr>
          <a:lstStyle>
            <a:lvl1pPr algn="l">
              <a:defRPr lang="ja-JP" sz="60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rtlCol="0" anchor="ctr" anchorCtr="0">
            <a:noAutofit/>
          </a:bodyPr>
          <a:lstStyle>
            <a:lvl1pPr marL="0" indent="0" algn="l">
              <a:buNone/>
              <a:defRPr lang="ja-JP" sz="32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 algn="ctr">
              <a:buNone/>
              <a:defRPr lang="ja-JP" sz="2000"/>
            </a:lvl2pPr>
            <a:lvl3pPr marL="914400" indent="0" algn="ctr">
              <a:buNone/>
              <a:defRPr lang="ja-JP" sz="1800"/>
            </a:lvl3pPr>
            <a:lvl4pPr marL="1371600" indent="0" algn="ctr">
              <a:buNone/>
              <a:defRPr lang="ja-JP" sz="1600"/>
            </a:lvl4pPr>
            <a:lvl5pPr marL="1828800" indent="0" algn="ctr">
              <a:buNone/>
              <a:defRPr lang="ja-JP" sz="1600"/>
            </a:lvl5pPr>
            <a:lvl6pPr marL="2286000" indent="0" algn="ctr">
              <a:buNone/>
              <a:defRPr lang="ja-JP" sz="1600"/>
            </a:lvl6pPr>
            <a:lvl7pPr marL="2743200" indent="0" algn="ctr">
              <a:buNone/>
              <a:defRPr lang="ja-JP" sz="1600"/>
            </a:lvl7pPr>
            <a:lvl8pPr marL="3200400" indent="0" algn="ctr">
              <a:buNone/>
              <a:defRPr lang="ja-JP" sz="1600"/>
            </a:lvl8pPr>
            <a:lvl9pPr marL="3657600" indent="0" algn="ctr">
              <a:buNone/>
              <a:defRPr lang="ja-JP" sz="1600"/>
            </a:lvl9pPr>
          </a:lstStyle>
          <a:p>
            <a:pPr rtl="0"/>
            <a:r>
              <a:rPr lang="ja-JP" dirty="0"/>
              <a:t>クリックしてサブタイトルを追加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 2 列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フリーフォーム(F)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フリーフォーム(F)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6" name="フリーフォーム(F)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9" name="グループ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フリーフォーム(F)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8" name="フリーフォーム(F)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Autofit/>
          </a:bodyPr>
          <a:lstStyle>
            <a:lvl1pPr>
              <a:defRPr lang="ja-JP" sz="42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10" name="日付プレースホルダー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11" name="フッター プレースホルダー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ja-JP" sz="12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 2 コンテンツ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フリーフォーム(F)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5" name="フリーフォーム(F)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rtlCol="0" anchor="b">
            <a:noAutofit/>
          </a:bodyPr>
          <a:lstStyle>
            <a:lvl1pPr>
              <a:defRPr lang="ja-JP" sz="4200" b="1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10" name="日付プレースホルダー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11" name="フッター プレースホルダー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ja-JP" sz="12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ja-JP" sz="1200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タイトル、コンテンツ、画像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08822" cy="6858002"/>
            <a:chOff x="0" y="0"/>
            <a:chExt cx="12208822" cy="6858002"/>
          </a:xfrm>
        </p:grpSpPr>
        <p:sp>
          <p:nvSpPr>
            <p:cNvPr id="7" name="長方形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リーフォーム(F)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13" name="タイトル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10643508" cy="1371600"/>
          </a:xfrm>
        </p:spPr>
        <p:txBody>
          <a:bodyPr rtlCol="0" anchor="b">
            <a:noAutofit/>
          </a:bodyPr>
          <a:lstStyle>
            <a:lvl1pPr>
              <a:defRPr lang="ja-JP" sz="42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B07A1CF7-9B3B-E43E-830E-DAB65B60824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166088" y="2652713"/>
            <a:ext cx="5394959" cy="343693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ja-JP" sz="20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8" name="図プレースホルダー 14">
            <a:extLst>
              <a:ext uri="{FF2B5EF4-FFF2-40B4-BE49-F238E27FC236}">
                <a16:creationId xmlns:a16="http://schemas.microsoft.com/office/drawing/2014/main" id="{D976D8D6-3BDC-1908-3425-FEE3EEF51A2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17920" y="1447800"/>
            <a:ext cx="4214010" cy="421401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アイコンをクリックして画像を追加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ja-JP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ja-JP">
                <a:solidFill>
                  <a:schemeClr val="accent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ja-JP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93030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rtAr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フリーフォーム(F)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9692640" cy="1371600"/>
          </a:xfrm>
        </p:spPr>
        <p:txBody>
          <a:bodyPr rtlCol="0" anchor="b">
            <a:noAutofit/>
          </a:bodyPr>
          <a:lstStyle>
            <a:lvl1pPr>
              <a:defRPr lang="ja-JP" sz="42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45E425B-455F-127B-1647-045FD094F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167493" y="2087561"/>
            <a:ext cx="2693306" cy="3890543"/>
          </a:xfrm>
        </p:spPr>
        <p:txBody>
          <a:bodyPr rtlCol="0">
            <a:noAutofit/>
          </a:bodyPr>
          <a:lstStyle>
            <a:lvl1pPr marL="0" indent="0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14400" indent="0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371600" indent="0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828800" indent="0">
              <a:buNone/>
              <a:defRPr lang="ja-JP" sz="2000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16400" y="2087563"/>
            <a:ext cx="6730274" cy="3890543"/>
          </a:xfrm>
        </p:spPr>
        <p:txBody>
          <a:bodyPr rtlCol="0">
            <a:noAutofit/>
          </a:bodyPr>
          <a:lstStyle>
            <a:lvl1pPr marL="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144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3716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8288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クリックしてコンテンツを追加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10" name="日付プレースホルダー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11" name="フッター プレースホルダー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827098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グラフ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フリーフォーム(F)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リーフォーム(F)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rtlCol="0" anchor="b">
            <a:noAutofit/>
          </a:bodyPr>
          <a:lstStyle>
            <a:lvl1pPr>
              <a:defRPr lang="ja-JP" sz="42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 rtlCol="0">
            <a:noAutofit/>
          </a:bodyPr>
          <a:lstStyle>
            <a:lvl1pPr marL="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144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3716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828800" indent="0">
              <a:buNone/>
              <a:defRPr lang="ja-JP"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 rtl="0"/>
            <a:r>
              <a:rPr lang="ja-JP" dirty="0"/>
              <a:t>クリックしてテキストを追加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10" name="日付プレースホルダー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11" name="フッター プレースホルダー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ja-JP" sz="1200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終了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長方形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grpSp>
          <p:nvGrpSpPr>
            <p:cNvPr id="6" name="グループ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フリーフォーム(F)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16" name="フリーフォーム(F)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ja-JP"/>
                </a:defPPr>
              </a:lstStyle>
              <a:p>
                <a:pPr algn="ctr" rtl="0"/>
                <a:endParaRPr lang="ja-JP" dirty="0"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22" name="フリーフォーム(F)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7" name="フリーフォーム(F)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ja-JP"/>
              </a:defPPr>
            </a:lstStyle>
            <a:p>
              <a:pPr algn="ctr" rtl="0"/>
              <a:endParaRPr lang="ja-JP" dirty="0"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rtlCol="0" anchor="b">
            <a:noAutofit/>
          </a:bodyPr>
          <a:lstStyle>
            <a:lvl1pPr algn="l">
              <a:defRPr lang="ja-JP" sz="60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rtl="0"/>
            <a:r>
              <a:rPr lang="ja-JP" dirty="0"/>
              <a:t>クリックしてタイトルを追加</a:t>
            </a:r>
          </a:p>
        </p:txBody>
      </p:sp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rtlCol="0" anchor="t" anchorCtr="0">
            <a:normAutofit/>
          </a:bodyPr>
          <a:lstStyle>
            <a:lvl1pPr marL="0" indent="0" algn="l">
              <a:buNone/>
              <a:defRPr lang="ja-JP" sz="28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457200" indent="0" algn="ctr">
              <a:buNone/>
              <a:defRPr lang="ja-JP" sz="2000"/>
            </a:lvl2pPr>
            <a:lvl3pPr marL="914400" indent="0" algn="ctr">
              <a:buNone/>
              <a:defRPr lang="ja-JP" sz="1800"/>
            </a:lvl3pPr>
            <a:lvl4pPr marL="1371600" indent="0" algn="ctr">
              <a:buNone/>
              <a:defRPr lang="ja-JP" sz="1600"/>
            </a:lvl4pPr>
            <a:lvl5pPr marL="1828800" indent="0" algn="ctr">
              <a:buNone/>
              <a:defRPr lang="ja-JP" sz="1600"/>
            </a:lvl5pPr>
            <a:lvl6pPr marL="2286000" indent="0" algn="ctr">
              <a:buNone/>
              <a:defRPr lang="ja-JP" sz="1600"/>
            </a:lvl6pPr>
            <a:lvl7pPr marL="2743200" indent="0" algn="ctr">
              <a:buNone/>
              <a:defRPr lang="ja-JP" sz="1600"/>
            </a:lvl7pPr>
            <a:lvl8pPr marL="3200400" indent="0" algn="ctr">
              <a:buNone/>
              <a:defRPr lang="ja-JP" sz="1600"/>
            </a:lvl8pPr>
            <a:lvl9pPr marL="3657600" indent="0" algn="ctr">
              <a:buNone/>
              <a:defRPr lang="ja-JP" sz="1600"/>
            </a:lvl9pPr>
          </a:lstStyle>
          <a:p>
            <a:pPr lvl="0" rtl="0"/>
            <a:r>
              <a:rPr lang="ja-JP" dirty="0"/>
              <a:t>クリックしてテキストを追加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1B61BD-2E4B-5486-14CE-1AB6528C7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54AC4E-65D4-96E2-22F0-E87387740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A2BD1-1831-4F11-B263-6916C5686805}" type="datetime1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349A1E-9A01-81F1-720D-5584F9F0E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166BF72-CDCF-42B5-EFA2-580F3CD1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2271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ja-JP"/>
            </a:defPPr>
          </a:lstStyle>
          <a:p>
            <a:pPr rtl="0"/>
            <a:r>
              <a:rPr lang="ja-JP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ja-JP"/>
            </a:defPPr>
          </a:lstStyle>
          <a:p>
            <a:pPr lvl="0" rtl="0"/>
            <a:r>
              <a:rPr lang="ja-JP" dirty="0"/>
              <a:t>クリックしてマスター テキストのスタイルを編集</a:t>
            </a:r>
          </a:p>
          <a:p>
            <a:pPr lvl="1" rtl="0"/>
            <a:r>
              <a:rPr lang="ja-JP" dirty="0"/>
              <a:t>第 2 レベル</a:t>
            </a:r>
          </a:p>
          <a:p>
            <a:pPr lvl="2" rtl="0"/>
            <a:r>
              <a:rPr lang="ja-JP" dirty="0"/>
              <a:t>第 3 レベル</a:t>
            </a:r>
          </a:p>
          <a:p>
            <a:pPr lvl="3" rtl="0"/>
            <a:r>
              <a:rPr lang="ja-JP" dirty="0"/>
              <a:t>第 4 レベル</a:t>
            </a:r>
          </a:p>
          <a:p>
            <a:pPr lvl="4" rtl="0"/>
            <a:r>
              <a:rPr lang="ja-JP" dirty="0"/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ja-JP" sz="120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n-US" dirty="0"/>
              <a:t>20XX/9/8</a:t>
            </a: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ja-JP" sz="120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ja-JP" sz="120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294A09A9-5501-47C1-A89A-A340965A2BE2}" type="slidenum">
              <a:rPr lang="en-US" altLang="ja-JP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59" r:id="rId4"/>
    <p:sldLayoutId id="2147483668" r:id="rId5"/>
    <p:sldLayoutId id="2147483669" r:id="rId6"/>
    <p:sldLayoutId id="2147483675" r:id="rId7"/>
    <p:sldLayoutId id="2147483677" r:id="rId8"/>
    <p:sldLayoutId id="2147483661" r:id="rId9"/>
    <p:sldLayoutId id="2147483666" r:id="rId10"/>
    <p:sldLayoutId id="2147483678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kumimoji="1" lang="ja-JP" sz="44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lang="ja-JP" sz="2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24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20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1pPr>
      <a:lvl2pPr marL="4572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2pPr>
      <a:lvl3pPr marL="9144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3716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18288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2860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6pPr>
      <a:lvl7pPr marL="27432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7pPr>
      <a:lvl8pPr marL="32004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8pPr>
      <a:lvl9pPr marL="3657600" algn="l" defTabSz="914400" rtl="0" eaLnBrk="1" latinLnBrk="0" hangingPunct="1">
        <a:defRPr kumimoji="1" lang="ja-JP" sz="1800" kern="1200">
          <a:solidFill>
            <a:schemeClr val="tx1"/>
          </a:solidFill>
          <a:latin typeface="+mn-ea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4F032E9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C_4432AED1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2E_4C3FEE78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3" y="232913"/>
            <a:ext cx="6277103" cy="3830130"/>
          </a:xfrm>
        </p:spPr>
        <p:txBody>
          <a:bodyPr rtlCol="0"/>
          <a:lstStyle>
            <a:defPPr>
              <a:defRPr lang="ja-JP"/>
            </a:defPPr>
          </a:lstStyle>
          <a:p>
            <a:pPr rtl="0">
              <a:lnSpc>
                <a:spcPct val="90000"/>
              </a:lnSpc>
            </a:pPr>
            <a:r>
              <a:rPr lang="en-US" altLang="ja-JP" sz="4800" dirty="0"/>
              <a:t>ISHI</a:t>
            </a:r>
            <a:r>
              <a:rPr lang="ja-JP" altLang="en-US" sz="4800" dirty="0"/>
              <a:t>会オペアンプ設計</a:t>
            </a:r>
            <a:endParaRPr lang="ja-JP" sz="48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DC0D7E9-FF22-C9EE-4957-717F9432C901}"/>
              </a:ext>
            </a:extLst>
          </p:cNvPr>
          <p:cNvSpPr txBox="1"/>
          <p:nvPr/>
        </p:nvSpPr>
        <p:spPr>
          <a:xfrm>
            <a:off x="8045405" y="5670596"/>
            <a:ext cx="17540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Masahiro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102021"/>
            <a:ext cx="9779183" cy="1744415"/>
          </a:xfrm>
        </p:spPr>
        <p:txBody>
          <a:bodyPr rtlCol="0"/>
          <a:lstStyle>
            <a:defPPr>
              <a:defRPr lang="ja-JP"/>
            </a:defPPr>
          </a:lstStyle>
          <a:p>
            <a:pPr rtl="0"/>
            <a:r>
              <a:rPr lang="ja-JP" altLang="en-US" dirty="0"/>
              <a:t>コンセプト</a:t>
            </a:r>
            <a:endParaRPr lang="ja-JP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366815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ja-JP"/>
            </a:defPPr>
          </a:lstStyle>
          <a:p>
            <a:pPr rtl="0"/>
            <a:r>
              <a:rPr lang="en-US" altLang="ja-JP" dirty="0"/>
              <a:t>RF</a:t>
            </a:r>
            <a:r>
              <a:rPr lang="ja-JP" altLang="en-US" dirty="0"/>
              <a:t>（数</a:t>
            </a:r>
            <a:r>
              <a:rPr lang="en-US" altLang="ja-JP" dirty="0"/>
              <a:t>MHz</a:t>
            </a:r>
            <a:r>
              <a:rPr lang="ja-JP" altLang="en-US" dirty="0"/>
              <a:t>）でも使えるオペアンプ</a:t>
            </a:r>
            <a:endParaRPr lang="ja-JP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034DE4A-9C6B-D3A4-336C-BF01FB204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設計の基本方針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0103107-C854-7232-9F02-E9CFFF2E9939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ja-JP" altLang="en-US" dirty="0"/>
              <a:t>初段の差動増幅に</a:t>
            </a:r>
            <a:r>
              <a:rPr lang="en-US" altLang="ja-JP" dirty="0" err="1"/>
              <a:t>nMOSFET</a:t>
            </a:r>
            <a:r>
              <a:rPr lang="ja-JP" altLang="en-US" dirty="0"/>
              <a:t>を使用</a:t>
            </a:r>
            <a:endParaRPr lang="en-US" altLang="ja-JP" dirty="0"/>
          </a:p>
          <a:p>
            <a:pPr lvl="1"/>
            <a:r>
              <a:rPr lang="ja-JP" altLang="en-US" dirty="0"/>
              <a:t>みんな</a:t>
            </a:r>
            <a:r>
              <a:rPr lang="en-US" altLang="ja-JP" dirty="0" err="1"/>
              <a:t>pMOSFET</a:t>
            </a:r>
            <a:r>
              <a:rPr lang="ja-JP" altLang="en-US" dirty="0"/>
              <a:t>だから</a:t>
            </a:r>
            <a:r>
              <a:rPr lang="en-US" altLang="ja-JP" dirty="0" err="1"/>
              <a:t>nMOSFET</a:t>
            </a:r>
            <a:r>
              <a:rPr lang="ja-JP" altLang="en-US" dirty="0"/>
              <a:t>にしてみたかった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２段目はカスコードにする</a:t>
            </a:r>
            <a:endParaRPr lang="en-US" altLang="ja-JP" dirty="0"/>
          </a:p>
          <a:p>
            <a:pPr lvl="1"/>
            <a:r>
              <a:rPr lang="ja-JP" altLang="en-US" dirty="0"/>
              <a:t>ミラー効果減らして高域まで使えるようにできそう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29095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FE208E-814F-425E-B2F2-3FA79C992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全体回路</a:t>
            </a:r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C9DB0A29-4F20-C889-A9E1-66736CE7B00A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049F244B-A4BB-07E0-7D06-A3233F97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8BE8898-C576-9EA3-050C-08DD3D3A4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36D103E-743F-4B05-B1B2-74D6FB9408BE}" type="slidenum">
              <a:rPr kumimoji="1" lang="ja-JP" altLang="en-US" smtClean="0"/>
              <a:t>4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0BEAF81-F728-F372-A922-76AD201CFA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2" t="33310" r="1449" b="3223"/>
          <a:stretch>
            <a:fillRect/>
          </a:stretch>
        </p:blipFill>
        <p:spPr>
          <a:xfrm>
            <a:off x="134121" y="2069299"/>
            <a:ext cx="11923758" cy="42195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A273BEA-28A0-36F1-512E-95206C224A4D}"/>
              </a:ext>
            </a:extLst>
          </p:cNvPr>
          <p:cNvSpPr/>
          <p:nvPr/>
        </p:nvSpPr>
        <p:spPr>
          <a:xfrm>
            <a:off x="487680" y="2716885"/>
            <a:ext cx="4160520" cy="3512777"/>
          </a:xfrm>
          <a:prstGeom prst="rect">
            <a:avLst/>
          </a:prstGeom>
          <a:noFill/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8031B0-AD32-3516-913E-7AF35BAABF04}"/>
              </a:ext>
            </a:extLst>
          </p:cNvPr>
          <p:cNvSpPr txBox="1"/>
          <p:nvPr/>
        </p:nvSpPr>
        <p:spPr>
          <a:xfrm>
            <a:off x="1364775" y="2255219"/>
            <a:ext cx="2060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バイアス生成部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A069FB2-AD7E-DA34-BC99-A308759E5CB8}"/>
              </a:ext>
            </a:extLst>
          </p:cNvPr>
          <p:cNvSpPr/>
          <p:nvPr/>
        </p:nvSpPr>
        <p:spPr>
          <a:xfrm>
            <a:off x="5540991" y="2716884"/>
            <a:ext cx="3384645" cy="3516189"/>
          </a:xfrm>
          <a:prstGeom prst="rect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0C0324-22D2-2F6C-9271-181E8CF02111}"/>
              </a:ext>
            </a:extLst>
          </p:cNvPr>
          <p:cNvSpPr txBox="1"/>
          <p:nvPr/>
        </p:nvSpPr>
        <p:spPr>
          <a:xfrm>
            <a:off x="6317775" y="2255219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差動増幅回路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B5F8954-FFEC-9FB6-B94F-B889A02CF6E2}"/>
              </a:ext>
            </a:extLst>
          </p:cNvPr>
          <p:cNvSpPr/>
          <p:nvPr/>
        </p:nvSpPr>
        <p:spPr>
          <a:xfrm>
            <a:off x="9262110" y="4112570"/>
            <a:ext cx="1381506" cy="1302461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F29746F-19B1-040D-6BCA-74C386061151}"/>
              </a:ext>
            </a:extLst>
          </p:cNvPr>
          <p:cNvSpPr txBox="1"/>
          <p:nvPr/>
        </p:nvSpPr>
        <p:spPr>
          <a:xfrm>
            <a:off x="9227844" y="488680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位相補償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B7E999D-94A3-3A04-AC23-FE1AFE527385}"/>
              </a:ext>
            </a:extLst>
          </p:cNvPr>
          <p:cNvSpPr/>
          <p:nvPr/>
        </p:nvSpPr>
        <p:spPr>
          <a:xfrm>
            <a:off x="10945824" y="3050280"/>
            <a:ext cx="758496" cy="2542033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D9BF9F6-489B-2523-A6EC-6D9CDEB0D713}"/>
              </a:ext>
            </a:extLst>
          </p:cNvPr>
          <p:cNvSpPr txBox="1"/>
          <p:nvPr/>
        </p:nvSpPr>
        <p:spPr>
          <a:xfrm>
            <a:off x="10670063" y="5607562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２段目</a:t>
            </a:r>
          </a:p>
        </p:txBody>
      </p:sp>
    </p:spTree>
    <p:extLst>
      <p:ext uri="{BB962C8B-B14F-4D97-AF65-F5344CB8AC3E}">
        <p14:creationId xmlns:p14="http://schemas.microsoft.com/office/powerpoint/2010/main" val="11441722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BDF28909-C02E-D822-F07E-F7ECE8BAC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457200"/>
            <a:ext cx="10643508" cy="1371600"/>
          </a:xfrm>
        </p:spPr>
        <p:txBody>
          <a:bodyPr/>
          <a:lstStyle/>
          <a:p>
            <a:r>
              <a:rPr lang="ja-JP" altLang="en-US" dirty="0"/>
              <a:t>レイアウトの方針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15167CF-0266-3FAD-2A46-34EE10614C8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1166088" y="2652713"/>
            <a:ext cx="5394959" cy="3436936"/>
          </a:xfrm>
        </p:spPr>
        <p:txBody>
          <a:bodyPr/>
          <a:lstStyle/>
          <a:p>
            <a:r>
              <a:rPr lang="ja-JP" altLang="en-US" dirty="0"/>
              <a:t>とりあえず動くレイアウトにする</a:t>
            </a:r>
            <a:endParaRPr lang="en-US" altLang="ja-JP" dirty="0"/>
          </a:p>
          <a:p>
            <a:pPr lvl="1"/>
            <a:r>
              <a:rPr lang="en-US" altLang="ja-JP" dirty="0"/>
              <a:t>LVS</a:t>
            </a:r>
            <a:r>
              <a:rPr lang="ja-JP" altLang="en-US" dirty="0"/>
              <a:t>は絶対にパスするようにする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回路図となるべく同じ配置にする</a:t>
            </a:r>
            <a:endParaRPr lang="en-US" altLang="ja-JP" dirty="0"/>
          </a:p>
          <a:p>
            <a:pPr lvl="1"/>
            <a:r>
              <a:rPr lang="ja-JP" altLang="en-US" dirty="0"/>
              <a:t>あとで訳わからなくなるの怖かった</a:t>
            </a:r>
            <a:endParaRPr lang="en-US" altLang="ja-JP" dirty="0"/>
          </a:p>
          <a:p>
            <a:endParaRPr lang="ja-JP" altLang="en-US" dirty="0"/>
          </a:p>
        </p:txBody>
      </p:sp>
      <p:pic>
        <p:nvPicPr>
          <p:cNvPr id="8" name="図プレースホルダー 7" descr="プロセッサ 単色塗りつぶし">
            <a:extLst>
              <a:ext uri="{FF2B5EF4-FFF2-40B4-BE49-F238E27FC236}">
                <a16:creationId xmlns:a16="http://schemas.microsoft.com/office/drawing/2014/main" id="{351D1FB4-792D-BA10-8814-C7D7D3C958B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318375" y="1447800"/>
            <a:ext cx="4213225" cy="4213225"/>
          </a:xfrm>
        </p:spPr>
      </p:pic>
    </p:spTree>
    <p:extLst>
      <p:ext uri="{BB962C8B-B14F-4D97-AF65-F5344CB8AC3E}">
        <p14:creationId xmlns:p14="http://schemas.microsoft.com/office/powerpoint/2010/main" val="78272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7293A9-B483-33F2-F3C8-7124B3870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レイアウト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1A02A88-1010-058E-D478-6791C0F22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02" y="1924110"/>
            <a:ext cx="10547396" cy="479736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0EBBE2-9385-301E-4FFF-1B1BACDE80DF}"/>
              </a:ext>
            </a:extLst>
          </p:cNvPr>
          <p:cNvSpPr txBox="1"/>
          <p:nvPr/>
        </p:nvSpPr>
        <p:spPr>
          <a:xfrm>
            <a:off x="1021224" y="3513937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</a:rPr>
              <a:t>vss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D662BA1-4E7B-4B87-6065-90782761A4C7}"/>
              </a:ext>
            </a:extLst>
          </p:cNvPr>
          <p:cNvSpPr txBox="1"/>
          <p:nvPr/>
        </p:nvSpPr>
        <p:spPr>
          <a:xfrm>
            <a:off x="979268" y="6352142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</a:rPr>
              <a:t>vdd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7998FB-420A-278D-B7EB-117A51A25EAE}"/>
              </a:ext>
            </a:extLst>
          </p:cNvPr>
          <p:cNvSpPr txBox="1"/>
          <p:nvPr/>
        </p:nvSpPr>
        <p:spPr>
          <a:xfrm>
            <a:off x="918354" y="4350697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</a:rPr>
              <a:t>vinp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086A495-2015-9644-DBF2-F2215064D913}"/>
              </a:ext>
            </a:extLst>
          </p:cNvPr>
          <p:cNvSpPr txBox="1"/>
          <p:nvPr/>
        </p:nvSpPr>
        <p:spPr>
          <a:xfrm>
            <a:off x="918354" y="4602289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</a:rPr>
              <a:t>vinn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26ACAA1-9B5A-7E13-4317-72B20A170D68}"/>
              </a:ext>
            </a:extLst>
          </p:cNvPr>
          <p:cNvSpPr txBox="1"/>
          <p:nvPr/>
        </p:nvSpPr>
        <p:spPr>
          <a:xfrm>
            <a:off x="991444" y="56074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</a:rPr>
              <a:t>ib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DB047C2-387A-1F2B-5862-95F5B2194B39}"/>
              </a:ext>
            </a:extLst>
          </p:cNvPr>
          <p:cNvSpPr txBox="1"/>
          <p:nvPr/>
        </p:nvSpPr>
        <p:spPr>
          <a:xfrm>
            <a:off x="10773060" y="5510104"/>
            <a:ext cx="681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</a:rPr>
              <a:t>vout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92582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2792BA-50B4-03A4-57AE-D3F64C2BE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反省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75D244E4-A975-EF5A-4DB1-AB722F02161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ja-JP" altLang="en-US" dirty="0"/>
              <a:t>回路図通りに並べて配線しただけで工夫が無い</a:t>
            </a:r>
            <a:endParaRPr lang="en-US" altLang="ja-JP" dirty="0"/>
          </a:p>
          <a:p>
            <a:pPr lvl="1"/>
            <a:r>
              <a:rPr lang="ja-JP" altLang="en-US" dirty="0"/>
              <a:t>ガードくらいは入れれば良かったと思う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配線が細い</a:t>
            </a:r>
            <a:endParaRPr lang="en-US" altLang="ja-JP" dirty="0"/>
          </a:p>
          <a:p>
            <a:pPr lvl="1"/>
            <a:r>
              <a:rPr lang="ja-JP" altLang="en-US" dirty="0"/>
              <a:t>もっと太く短く配線できたはず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フィンガーの端から配線を取り出しているので、</a:t>
            </a:r>
            <a:br>
              <a:rPr lang="en-US" altLang="ja-JP" dirty="0"/>
            </a:br>
            <a:r>
              <a:rPr lang="ja-JP" altLang="en-US" dirty="0"/>
              <a:t>両端で電位の違いがありそう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151521503"/>
      </p:ext>
    </p:extLst>
  </p:cSld>
  <p:clrMapOvr>
    <a:masterClrMapping/>
  </p:clrMapOvr>
</p:sld>
</file>

<file path=ppt/theme/theme1.xml><?xml version="1.0" encoding="utf-8"?>
<a:theme xmlns:a="http://schemas.openxmlformats.org/drawingml/2006/main" name="ユーザー設定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418_TF45331398_Win32" id="{425936A9-D287-42E4-A79F-75E6950236D6}" vid="{12592F7F-909F-4315-8BE5-A7B4FB28679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 panose="020F0302020204030204"/>
        <a:ea typeface=""/>
        <a:cs typeface=""/>
        <a:font script="Jpan" typeface="Meiryo UI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 panose="020F0502020204030204"/>
        <a:ea typeface=""/>
        <a:cs typeface=""/>
        <a:font script="Jpan" typeface="Meiryo UI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 panose="020F0302020204030204"/>
        <a:ea typeface=""/>
        <a:cs typeface=""/>
        <a:font script="Jpan" typeface="Meiryo UI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 panose="020F0502020204030204"/>
        <a:ea typeface=""/>
        <a:cs typeface=""/>
        <a:font script="Jpan" typeface="Meiryo UI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{F74AF6B3-859A-4B62-B872-2BB3CBDF553D}TF0e83fa2d-9a66-4e5e-9e82-acc620be7a49325e06bd_win32-c8f62445945c</Template>
  <TotalTime>147</TotalTime>
  <Words>144</Words>
  <Application>Microsoft Office PowerPoint</Application>
  <PresentationFormat>ワイド画面</PresentationFormat>
  <Paragraphs>39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0" baseType="lpstr">
      <vt:lpstr>Meiryo UI</vt:lpstr>
      <vt:lpstr>Arial</vt:lpstr>
      <vt:lpstr>ユーザー設定</vt:lpstr>
      <vt:lpstr>ISHI会オペアンプ設計</vt:lpstr>
      <vt:lpstr>コンセプト</vt:lpstr>
      <vt:lpstr>設計の基本方針</vt:lpstr>
      <vt:lpstr>全体回路</vt:lpstr>
      <vt:lpstr>レイアウトの方針</vt:lpstr>
      <vt:lpstr>レイアウト</vt:lpstr>
      <vt:lpstr>反省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政大 福岡</dc:creator>
  <cp:lastModifiedBy>Takeshi Kuboki</cp:lastModifiedBy>
  <cp:revision>3</cp:revision>
  <dcterms:created xsi:type="dcterms:W3CDTF">2026-05-02T13:56:19Z</dcterms:created>
  <dcterms:modified xsi:type="dcterms:W3CDTF">2026-05-06T08:17:05Z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